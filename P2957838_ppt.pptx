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696F5-6E98-4795-A5C1-1B98E56D3B53}" v="105" dt="2025-11-05T12:25:32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63E22-29B0-4BBA-A2C5-BF52AE9082C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D5F9B2-89FC-4C54-B9CF-F5F256CFCE8F}">
      <dgm:prSet/>
      <dgm:spPr/>
      <dgm:t>
        <a:bodyPr/>
        <a:lstStyle/>
        <a:p>
          <a:r>
            <a:rPr lang="en-US" b="1"/>
            <a:t>Background:</a:t>
          </a:r>
          <a:br>
            <a:rPr lang="en-US" b="1"/>
          </a:br>
          <a:r>
            <a:rPr lang="en-US"/>
            <a:t> Deep learning has transformed image classification through neural networks capable of recognizing complex visual patterns.</a:t>
          </a:r>
        </a:p>
      </dgm:t>
    </dgm:pt>
    <dgm:pt modelId="{51A70CB5-B18C-4539-9F8C-0AC2420F10AD}" type="parTrans" cxnId="{303ED002-5EC8-47C7-962C-650BB02800F1}">
      <dgm:prSet/>
      <dgm:spPr/>
      <dgm:t>
        <a:bodyPr/>
        <a:lstStyle/>
        <a:p>
          <a:endParaRPr lang="en-US"/>
        </a:p>
      </dgm:t>
    </dgm:pt>
    <dgm:pt modelId="{C4359263-26DE-44F7-9F69-34502577C3CE}" type="sibTrans" cxnId="{303ED002-5EC8-47C7-962C-650BB02800F1}">
      <dgm:prSet/>
      <dgm:spPr/>
      <dgm:t>
        <a:bodyPr/>
        <a:lstStyle/>
        <a:p>
          <a:endParaRPr lang="en-US"/>
        </a:p>
      </dgm:t>
    </dgm:pt>
    <dgm:pt modelId="{5E73FA2C-1CA1-4408-9714-D3A4FDD62F29}">
      <dgm:prSet/>
      <dgm:spPr/>
      <dgm:t>
        <a:bodyPr/>
        <a:lstStyle/>
        <a:p>
          <a:r>
            <a:rPr lang="en-US" b="1"/>
            <a:t>Why this topic:</a:t>
          </a:r>
          <a:br>
            <a:rPr lang="en-US" b="1"/>
          </a:br>
          <a:r>
            <a:rPr lang="en-US"/>
            <a:t> Fashion-MNIST provides a challenging yet manageable dataset to explore how Artificial Neural Networks (ANN) and Convolutional Neural Networks (CNN) perform on visual data.</a:t>
          </a:r>
        </a:p>
      </dgm:t>
    </dgm:pt>
    <dgm:pt modelId="{AF8DD372-5E04-4017-8CBB-185E25EEADC7}" type="parTrans" cxnId="{F0BE25CF-14CC-4C42-B646-CE09DEDFC4B6}">
      <dgm:prSet/>
      <dgm:spPr/>
      <dgm:t>
        <a:bodyPr/>
        <a:lstStyle/>
        <a:p>
          <a:endParaRPr lang="en-US"/>
        </a:p>
      </dgm:t>
    </dgm:pt>
    <dgm:pt modelId="{339A40F5-3256-40F9-BC95-9A7C97C72378}" type="sibTrans" cxnId="{F0BE25CF-14CC-4C42-B646-CE09DEDFC4B6}">
      <dgm:prSet/>
      <dgm:spPr/>
      <dgm:t>
        <a:bodyPr/>
        <a:lstStyle/>
        <a:p>
          <a:endParaRPr lang="en-US"/>
        </a:p>
      </dgm:t>
    </dgm:pt>
    <dgm:pt modelId="{7DD52EFE-F61C-41FB-8163-081546D1A2B5}">
      <dgm:prSet/>
      <dgm:spPr/>
      <dgm:t>
        <a:bodyPr/>
        <a:lstStyle/>
        <a:p>
          <a:r>
            <a:rPr lang="en-US" b="1"/>
            <a:t>Problem Statement:</a:t>
          </a:r>
          <a:br>
            <a:rPr lang="en-US" b="1"/>
          </a:br>
          <a:r>
            <a:rPr lang="en-US" b="1"/>
            <a:t> </a:t>
          </a:r>
          <a:r>
            <a:rPr lang="en-US"/>
            <a:t>Which architecture (ANN or CNN) achieves higher accuracy and better generalization in image classification tasks?</a:t>
          </a:r>
        </a:p>
      </dgm:t>
    </dgm:pt>
    <dgm:pt modelId="{2A6F2FD8-0433-484C-B1EF-EB01245107C0}" type="parTrans" cxnId="{6B456586-34A3-4E54-AB67-1A973E4041FD}">
      <dgm:prSet/>
      <dgm:spPr/>
      <dgm:t>
        <a:bodyPr/>
        <a:lstStyle/>
        <a:p>
          <a:endParaRPr lang="en-US"/>
        </a:p>
      </dgm:t>
    </dgm:pt>
    <dgm:pt modelId="{6FACB703-7B2A-4E9F-96FC-5DAC277629F5}" type="sibTrans" cxnId="{6B456586-34A3-4E54-AB67-1A973E4041FD}">
      <dgm:prSet/>
      <dgm:spPr/>
      <dgm:t>
        <a:bodyPr/>
        <a:lstStyle/>
        <a:p>
          <a:endParaRPr lang="en-US"/>
        </a:p>
      </dgm:t>
    </dgm:pt>
    <dgm:pt modelId="{2C0EF5D1-72D3-41E7-A544-FC4068DDFF28}" type="pres">
      <dgm:prSet presAssocID="{17463E22-29B0-4BBA-A2C5-BF52AE9082C4}" presName="root" presStyleCnt="0">
        <dgm:presLayoutVars>
          <dgm:dir/>
          <dgm:resizeHandles val="exact"/>
        </dgm:presLayoutVars>
      </dgm:prSet>
      <dgm:spPr/>
    </dgm:pt>
    <dgm:pt modelId="{22B61955-320B-49C1-B66C-E7257E665D03}" type="pres">
      <dgm:prSet presAssocID="{01D5F9B2-89FC-4C54-B9CF-F5F256CFCE8F}" presName="compNode" presStyleCnt="0"/>
      <dgm:spPr/>
    </dgm:pt>
    <dgm:pt modelId="{C166DAB2-7202-4678-AF7C-C6633C29F3EA}" type="pres">
      <dgm:prSet presAssocID="{01D5F9B2-89FC-4C54-B9CF-F5F256CFCE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6D2F2BED-6DFA-4EBA-8B7D-016A0E53B55D}" type="pres">
      <dgm:prSet presAssocID="{01D5F9B2-89FC-4C54-B9CF-F5F256CFCE8F}" presName="spaceRect" presStyleCnt="0"/>
      <dgm:spPr/>
    </dgm:pt>
    <dgm:pt modelId="{2C636159-2BBD-4699-9C8E-E21ED4F7926B}" type="pres">
      <dgm:prSet presAssocID="{01D5F9B2-89FC-4C54-B9CF-F5F256CFCE8F}" presName="textRect" presStyleLbl="revTx" presStyleIdx="0" presStyleCnt="3">
        <dgm:presLayoutVars>
          <dgm:chMax val="1"/>
          <dgm:chPref val="1"/>
        </dgm:presLayoutVars>
      </dgm:prSet>
      <dgm:spPr/>
    </dgm:pt>
    <dgm:pt modelId="{9121CEB1-A4DB-4758-A227-913F5119C0F0}" type="pres">
      <dgm:prSet presAssocID="{C4359263-26DE-44F7-9F69-34502577C3CE}" presName="sibTrans" presStyleCnt="0"/>
      <dgm:spPr/>
    </dgm:pt>
    <dgm:pt modelId="{7E1F3A1F-53F8-486C-9D55-8E4D070B6DDA}" type="pres">
      <dgm:prSet presAssocID="{5E73FA2C-1CA1-4408-9714-D3A4FDD62F29}" presName="compNode" presStyleCnt="0"/>
      <dgm:spPr/>
    </dgm:pt>
    <dgm:pt modelId="{958B4CC4-F881-4A0B-8FA6-A8F71F1A75C0}" type="pres">
      <dgm:prSet presAssocID="{5E73FA2C-1CA1-4408-9714-D3A4FDD62F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FC3B55C-2E5E-4AC1-892D-8458320E2468}" type="pres">
      <dgm:prSet presAssocID="{5E73FA2C-1CA1-4408-9714-D3A4FDD62F29}" presName="spaceRect" presStyleCnt="0"/>
      <dgm:spPr/>
    </dgm:pt>
    <dgm:pt modelId="{3DD3E3F7-EC0E-4C3A-88B9-A66EF747D744}" type="pres">
      <dgm:prSet presAssocID="{5E73FA2C-1CA1-4408-9714-D3A4FDD62F29}" presName="textRect" presStyleLbl="revTx" presStyleIdx="1" presStyleCnt="3">
        <dgm:presLayoutVars>
          <dgm:chMax val="1"/>
          <dgm:chPref val="1"/>
        </dgm:presLayoutVars>
      </dgm:prSet>
      <dgm:spPr/>
    </dgm:pt>
    <dgm:pt modelId="{0C60F76B-0A5B-46B4-BBDC-07981F3391E3}" type="pres">
      <dgm:prSet presAssocID="{339A40F5-3256-40F9-BC95-9A7C97C72378}" presName="sibTrans" presStyleCnt="0"/>
      <dgm:spPr/>
    </dgm:pt>
    <dgm:pt modelId="{1CB40811-952D-4488-AED8-244F425665B6}" type="pres">
      <dgm:prSet presAssocID="{7DD52EFE-F61C-41FB-8163-081546D1A2B5}" presName="compNode" presStyleCnt="0"/>
      <dgm:spPr/>
    </dgm:pt>
    <dgm:pt modelId="{75BA41CC-87D0-4E5F-9CB3-AF3B11AD60EF}" type="pres">
      <dgm:prSet presAssocID="{7DD52EFE-F61C-41FB-8163-081546D1A2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FE187E4-732A-4B00-842C-68FAE0278C2F}" type="pres">
      <dgm:prSet presAssocID="{7DD52EFE-F61C-41FB-8163-081546D1A2B5}" presName="spaceRect" presStyleCnt="0"/>
      <dgm:spPr/>
    </dgm:pt>
    <dgm:pt modelId="{54C801B0-1500-43E4-B57A-7A8C5D976FB3}" type="pres">
      <dgm:prSet presAssocID="{7DD52EFE-F61C-41FB-8163-081546D1A2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03ED002-5EC8-47C7-962C-650BB02800F1}" srcId="{17463E22-29B0-4BBA-A2C5-BF52AE9082C4}" destId="{01D5F9B2-89FC-4C54-B9CF-F5F256CFCE8F}" srcOrd="0" destOrd="0" parTransId="{51A70CB5-B18C-4539-9F8C-0AC2420F10AD}" sibTransId="{C4359263-26DE-44F7-9F69-34502577C3CE}"/>
    <dgm:cxn modelId="{28B53610-7C6B-46B8-8987-3EAC552FCEE4}" type="presOf" srcId="{17463E22-29B0-4BBA-A2C5-BF52AE9082C4}" destId="{2C0EF5D1-72D3-41E7-A544-FC4068DDFF28}" srcOrd="0" destOrd="0" presId="urn:microsoft.com/office/officeart/2018/2/layout/IconLabelList"/>
    <dgm:cxn modelId="{66B05255-65DA-4331-8681-EF8327485E34}" type="presOf" srcId="{5E73FA2C-1CA1-4408-9714-D3A4FDD62F29}" destId="{3DD3E3F7-EC0E-4C3A-88B9-A66EF747D744}" srcOrd="0" destOrd="0" presId="urn:microsoft.com/office/officeart/2018/2/layout/IconLabelList"/>
    <dgm:cxn modelId="{6B456586-34A3-4E54-AB67-1A973E4041FD}" srcId="{17463E22-29B0-4BBA-A2C5-BF52AE9082C4}" destId="{7DD52EFE-F61C-41FB-8163-081546D1A2B5}" srcOrd="2" destOrd="0" parTransId="{2A6F2FD8-0433-484C-B1EF-EB01245107C0}" sibTransId="{6FACB703-7B2A-4E9F-96FC-5DAC277629F5}"/>
    <dgm:cxn modelId="{591FAE87-8D03-4974-85EF-AB3C0AC9AA29}" type="presOf" srcId="{01D5F9B2-89FC-4C54-B9CF-F5F256CFCE8F}" destId="{2C636159-2BBD-4699-9C8E-E21ED4F7926B}" srcOrd="0" destOrd="0" presId="urn:microsoft.com/office/officeart/2018/2/layout/IconLabelList"/>
    <dgm:cxn modelId="{F0BE25CF-14CC-4C42-B646-CE09DEDFC4B6}" srcId="{17463E22-29B0-4BBA-A2C5-BF52AE9082C4}" destId="{5E73FA2C-1CA1-4408-9714-D3A4FDD62F29}" srcOrd="1" destOrd="0" parTransId="{AF8DD372-5E04-4017-8CBB-185E25EEADC7}" sibTransId="{339A40F5-3256-40F9-BC95-9A7C97C72378}"/>
    <dgm:cxn modelId="{29C8DFD5-DAB1-462E-A21C-422235D1052B}" type="presOf" srcId="{7DD52EFE-F61C-41FB-8163-081546D1A2B5}" destId="{54C801B0-1500-43E4-B57A-7A8C5D976FB3}" srcOrd="0" destOrd="0" presId="urn:microsoft.com/office/officeart/2018/2/layout/IconLabelList"/>
    <dgm:cxn modelId="{C625E307-FE25-44D4-8E0F-DC3C4D8EE15C}" type="presParOf" srcId="{2C0EF5D1-72D3-41E7-A544-FC4068DDFF28}" destId="{22B61955-320B-49C1-B66C-E7257E665D03}" srcOrd="0" destOrd="0" presId="urn:microsoft.com/office/officeart/2018/2/layout/IconLabelList"/>
    <dgm:cxn modelId="{99331511-0C48-4233-B155-2CACC7051693}" type="presParOf" srcId="{22B61955-320B-49C1-B66C-E7257E665D03}" destId="{C166DAB2-7202-4678-AF7C-C6633C29F3EA}" srcOrd="0" destOrd="0" presId="urn:microsoft.com/office/officeart/2018/2/layout/IconLabelList"/>
    <dgm:cxn modelId="{C497D002-7FF4-4F01-BFC6-9CC817BBD4D5}" type="presParOf" srcId="{22B61955-320B-49C1-B66C-E7257E665D03}" destId="{6D2F2BED-6DFA-4EBA-8B7D-016A0E53B55D}" srcOrd="1" destOrd="0" presId="urn:microsoft.com/office/officeart/2018/2/layout/IconLabelList"/>
    <dgm:cxn modelId="{7D821495-CFEA-41BA-8457-454EA893E322}" type="presParOf" srcId="{22B61955-320B-49C1-B66C-E7257E665D03}" destId="{2C636159-2BBD-4699-9C8E-E21ED4F7926B}" srcOrd="2" destOrd="0" presId="urn:microsoft.com/office/officeart/2018/2/layout/IconLabelList"/>
    <dgm:cxn modelId="{E8B92927-A86F-4DF0-A034-203C4F11D4AE}" type="presParOf" srcId="{2C0EF5D1-72D3-41E7-A544-FC4068DDFF28}" destId="{9121CEB1-A4DB-4758-A227-913F5119C0F0}" srcOrd="1" destOrd="0" presId="urn:microsoft.com/office/officeart/2018/2/layout/IconLabelList"/>
    <dgm:cxn modelId="{430F4B79-4240-4FD1-8ABE-A281A67659E9}" type="presParOf" srcId="{2C0EF5D1-72D3-41E7-A544-FC4068DDFF28}" destId="{7E1F3A1F-53F8-486C-9D55-8E4D070B6DDA}" srcOrd="2" destOrd="0" presId="urn:microsoft.com/office/officeart/2018/2/layout/IconLabelList"/>
    <dgm:cxn modelId="{DE854E66-F959-474B-B969-7123B6728EF6}" type="presParOf" srcId="{7E1F3A1F-53F8-486C-9D55-8E4D070B6DDA}" destId="{958B4CC4-F881-4A0B-8FA6-A8F71F1A75C0}" srcOrd="0" destOrd="0" presId="urn:microsoft.com/office/officeart/2018/2/layout/IconLabelList"/>
    <dgm:cxn modelId="{A74655AE-6E49-49B2-9D1E-A60D5F7A53D8}" type="presParOf" srcId="{7E1F3A1F-53F8-486C-9D55-8E4D070B6DDA}" destId="{AFC3B55C-2E5E-4AC1-892D-8458320E2468}" srcOrd="1" destOrd="0" presId="urn:microsoft.com/office/officeart/2018/2/layout/IconLabelList"/>
    <dgm:cxn modelId="{8F7522F6-1A4A-4FD2-BF38-E09E74BD6CD3}" type="presParOf" srcId="{7E1F3A1F-53F8-486C-9D55-8E4D070B6DDA}" destId="{3DD3E3F7-EC0E-4C3A-88B9-A66EF747D744}" srcOrd="2" destOrd="0" presId="urn:microsoft.com/office/officeart/2018/2/layout/IconLabelList"/>
    <dgm:cxn modelId="{49B616C4-6685-46AD-BF48-61AF711065CA}" type="presParOf" srcId="{2C0EF5D1-72D3-41E7-A544-FC4068DDFF28}" destId="{0C60F76B-0A5B-46B4-BBDC-07981F3391E3}" srcOrd="3" destOrd="0" presId="urn:microsoft.com/office/officeart/2018/2/layout/IconLabelList"/>
    <dgm:cxn modelId="{69C808F1-0D78-45A9-A633-1306E3A70CB9}" type="presParOf" srcId="{2C0EF5D1-72D3-41E7-A544-FC4068DDFF28}" destId="{1CB40811-952D-4488-AED8-244F425665B6}" srcOrd="4" destOrd="0" presId="urn:microsoft.com/office/officeart/2018/2/layout/IconLabelList"/>
    <dgm:cxn modelId="{E8F73CCF-2725-4BA9-B76C-C695626720C0}" type="presParOf" srcId="{1CB40811-952D-4488-AED8-244F425665B6}" destId="{75BA41CC-87D0-4E5F-9CB3-AF3B11AD60EF}" srcOrd="0" destOrd="0" presId="urn:microsoft.com/office/officeart/2018/2/layout/IconLabelList"/>
    <dgm:cxn modelId="{0CAEDCA5-42D3-4C3D-B64B-CA7A1C131740}" type="presParOf" srcId="{1CB40811-952D-4488-AED8-244F425665B6}" destId="{5FE187E4-732A-4B00-842C-68FAE0278C2F}" srcOrd="1" destOrd="0" presId="urn:microsoft.com/office/officeart/2018/2/layout/IconLabelList"/>
    <dgm:cxn modelId="{43162F1C-2259-44A8-A0F0-7756651B5A13}" type="presParOf" srcId="{1CB40811-952D-4488-AED8-244F425665B6}" destId="{54C801B0-1500-43E4-B57A-7A8C5D976F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1FF7F1-87F8-4F17-83DD-2CF0C904F54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6528BE8-7488-41AA-9DB2-E94E568CC1D8}">
      <dgm:prSet/>
      <dgm:spPr/>
      <dgm:t>
        <a:bodyPr/>
        <a:lstStyle/>
        <a:p>
          <a:r>
            <a:rPr lang="en-US" b="1"/>
            <a:t>Framework:</a:t>
          </a:r>
          <a:r>
            <a:rPr lang="en-US"/>
            <a:t> PyTorch</a:t>
          </a:r>
        </a:p>
      </dgm:t>
    </dgm:pt>
    <dgm:pt modelId="{EA488EDB-3B87-4E14-A34A-C1EE494EFC45}" type="parTrans" cxnId="{A8012E78-8276-457E-825F-AD49EA25E7EC}">
      <dgm:prSet/>
      <dgm:spPr/>
      <dgm:t>
        <a:bodyPr/>
        <a:lstStyle/>
        <a:p>
          <a:endParaRPr lang="en-US"/>
        </a:p>
      </dgm:t>
    </dgm:pt>
    <dgm:pt modelId="{1178F59B-3B45-41A6-A3F5-F07F0EEB4A3B}" type="sibTrans" cxnId="{A8012E78-8276-457E-825F-AD49EA25E7EC}">
      <dgm:prSet/>
      <dgm:spPr/>
      <dgm:t>
        <a:bodyPr/>
        <a:lstStyle/>
        <a:p>
          <a:endParaRPr lang="en-US"/>
        </a:p>
      </dgm:t>
    </dgm:pt>
    <dgm:pt modelId="{04B8ED89-3340-4E5C-9CEE-04A66D8CBE85}">
      <dgm:prSet/>
      <dgm:spPr/>
      <dgm:t>
        <a:bodyPr/>
        <a:lstStyle/>
        <a:p>
          <a:r>
            <a:rPr lang="en-US" b="1"/>
            <a:t>Loss Function:</a:t>
          </a:r>
          <a:r>
            <a:rPr lang="en-US"/>
            <a:t> CrossEntropyLoss</a:t>
          </a:r>
        </a:p>
      </dgm:t>
    </dgm:pt>
    <dgm:pt modelId="{36703CDA-15E0-48B2-82DD-4E05E15C33C6}" type="parTrans" cxnId="{989C801A-6383-4B8E-9024-8D20F5888669}">
      <dgm:prSet/>
      <dgm:spPr/>
      <dgm:t>
        <a:bodyPr/>
        <a:lstStyle/>
        <a:p>
          <a:endParaRPr lang="en-US"/>
        </a:p>
      </dgm:t>
    </dgm:pt>
    <dgm:pt modelId="{0935141C-AA27-42C5-A7CC-73DAF16605CA}" type="sibTrans" cxnId="{989C801A-6383-4B8E-9024-8D20F5888669}">
      <dgm:prSet/>
      <dgm:spPr/>
      <dgm:t>
        <a:bodyPr/>
        <a:lstStyle/>
        <a:p>
          <a:endParaRPr lang="en-US"/>
        </a:p>
      </dgm:t>
    </dgm:pt>
    <dgm:pt modelId="{F6725E18-0AC6-4E73-B46B-88CFDC496E45}">
      <dgm:prSet/>
      <dgm:spPr/>
      <dgm:t>
        <a:bodyPr/>
        <a:lstStyle/>
        <a:p>
          <a:r>
            <a:rPr lang="en-US" b="1"/>
            <a:t>Optimizer:</a:t>
          </a:r>
          <a:r>
            <a:rPr lang="en-US"/>
            <a:t> Adam (learning rate = 0.001)</a:t>
          </a:r>
        </a:p>
      </dgm:t>
    </dgm:pt>
    <dgm:pt modelId="{35536E2B-B8EB-47E9-841C-EFC46C6D8589}" type="parTrans" cxnId="{1AC28DD0-80E8-40A9-8D99-6B30CF082D43}">
      <dgm:prSet/>
      <dgm:spPr/>
      <dgm:t>
        <a:bodyPr/>
        <a:lstStyle/>
        <a:p>
          <a:endParaRPr lang="en-US"/>
        </a:p>
      </dgm:t>
    </dgm:pt>
    <dgm:pt modelId="{F86C78F7-A8FA-49CA-836E-0EBB712E28A2}" type="sibTrans" cxnId="{1AC28DD0-80E8-40A9-8D99-6B30CF082D43}">
      <dgm:prSet/>
      <dgm:spPr/>
      <dgm:t>
        <a:bodyPr/>
        <a:lstStyle/>
        <a:p>
          <a:endParaRPr lang="en-US"/>
        </a:p>
      </dgm:t>
    </dgm:pt>
    <dgm:pt modelId="{8E630362-9473-4ADB-9E27-EDA5B5EA1951}">
      <dgm:prSet/>
      <dgm:spPr/>
      <dgm:t>
        <a:bodyPr/>
        <a:lstStyle/>
        <a:p>
          <a:r>
            <a:rPr lang="en-US" b="1"/>
            <a:t>Regularization:</a:t>
          </a:r>
          <a:r>
            <a:rPr lang="en-US"/>
            <a:t> Dropout layers for overfitting control</a:t>
          </a:r>
        </a:p>
      </dgm:t>
    </dgm:pt>
    <dgm:pt modelId="{A84037AC-BBD5-4F71-94D1-D58008C56526}" type="parTrans" cxnId="{9A286E53-573D-4D0A-8890-1C2AA1212B49}">
      <dgm:prSet/>
      <dgm:spPr/>
      <dgm:t>
        <a:bodyPr/>
        <a:lstStyle/>
        <a:p>
          <a:endParaRPr lang="en-US"/>
        </a:p>
      </dgm:t>
    </dgm:pt>
    <dgm:pt modelId="{CEC8F723-F783-4C96-9BA7-5F4619A9D351}" type="sibTrans" cxnId="{9A286E53-573D-4D0A-8890-1C2AA1212B49}">
      <dgm:prSet/>
      <dgm:spPr/>
      <dgm:t>
        <a:bodyPr/>
        <a:lstStyle/>
        <a:p>
          <a:endParaRPr lang="en-US"/>
        </a:p>
      </dgm:t>
    </dgm:pt>
    <dgm:pt modelId="{C81961A6-B17E-4984-88D5-D4047F11AD77}">
      <dgm:prSet/>
      <dgm:spPr/>
      <dgm:t>
        <a:bodyPr/>
        <a:lstStyle/>
        <a:p>
          <a:r>
            <a:rPr lang="en-US" b="1"/>
            <a:t>Evaluation Metrics:</a:t>
          </a:r>
          <a:r>
            <a:rPr lang="en-US"/>
            <a:t> Training/validation accuracy, loss, confusion matrix</a:t>
          </a:r>
        </a:p>
      </dgm:t>
    </dgm:pt>
    <dgm:pt modelId="{458E724B-03CF-49E9-8235-A090592502F9}" type="parTrans" cxnId="{E8E2B197-C3EB-44C9-B65D-8C3581A6DF7D}">
      <dgm:prSet/>
      <dgm:spPr/>
      <dgm:t>
        <a:bodyPr/>
        <a:lstStyle/>
        <a:p>
          <a:endParaRPr lang="en-US"/>
        </a:p>
      </dgm:t>
    </dgm:pt>
    <dgm:pt modelId="{91A33493-294E-4B3C-B282-77E8BE831CB3}" type="sibTrans" cxnId="{E8E2B197-C3EB-44C9-B65D-8C3581A6DF7D}">
      <dgm:prSet/>
      <dgm:spPr/>
      <dgm:t>
        <a:bodyPr/>
        <a:lstStyle/>
        <a:p>
          <a:endParaRPr lang="en-US"/>
        </a:p>
      </dgm:t>
    </dgm:pt>
    <dgm:pt modelId="{DCF2B91E-0F98-478A-A619-0254932E84AF}" type="pres">
      <dgm:prSet presAssocID="{961FF7F1-87F8-4F17-83DD-2CF0C904F541}" presName="vert0" presStyleCnt="0">
        <dgm:presLayoutVars>
          <dgm:dir/>
          <dgm:animOne val="branch"/>
          <dgm:animLvl val="lvl"/>
        </dgm:presLayoutVars>
      </dgm:prSet>
      <dgm:spPr/>
    </dgm:pt>
    <dgm:pt modelId="{CB7EBFF0-8EE4-4AF4-A741-4C58E961D394}" type="pres">
      <dgm:prSet presAssocID="{E6528BE8-7488-41AA-9DB2-E94E568CC1D8}" presName="thickLine" presStyleLbl="alignNode1" presStyleIdx="0" presStyleCnt="5"/>
      <dgm:spPr/>
    </dgm:pt>
    <dgm:pt modelId="{F1B83674-98E9-4DF2-AED9-1A5A61DF7ACF}" type="pres">
      <dgm:prSet presAssocID="{E6528BE8-7488-41AA-9DB2-E94E568CC1D8}" presName="horz1" presStyleCnt="0"/>
      <dgm:spPr/>
    </dgm:pt>
    <dgm:pt modelId="{0C77FE28-83C8-4EA3-B8F2-C1CCEAB9BC2E}" type="pres">
      <dgm:prSet presAssocID="{E6528BE8-7488-41AA-9DB2-E94E568CC1D8}" presName="tx1" presStyleLbl="revTx" presStyleIdx="0" presStyleCnt="5"/>
      <dgm:spPr/>
    </dgm:pt>
    <dgm:pt modelId="{5EA870CF-D9B4-4026-B543-4BFDB301541E}" type="pres">
      <dgm:prSet presAssocID="{E6528BE8-7488-41AA-9DB2-E94E568CC1D8}" presName="vert1" presStyleCnt="0"/>
      <dgm:spPr/>
    </dgm:pt>
    <dgm:pt modelId="{7942FE62-2A02-4D7E-9505-51A3F765F55D}" type="pres">
      <dgm:prSet presAssocID="{04B8ED89-3340-4E5C-9CEE-04A66D8CBE85}" presName="thickLine" presStyleLbl="alignNode1" presStyleIdx="1" presStyleCnt="5"/>
      <dgm:spPr/>
    </dgm:pt>
    <dgm:pt modelId="{6A27AA18-370E-402F-AE83-AC86A05C3113}" type="pres">
      <dgm:prSet presAssocID="{04B8ED89-3340-4E5C-9CEE-04A66D8CBE85}" presName="horz1" presStyleCnt="0"/>
      <dgm:spPr/>
    </dgm:pt>
    <dgm:pt modelId="{34B95D40-B2C8-4B6D-B344-9C25C540E1FA}" type="pres">
      <dgm:prSet presAssocID="{04B8ED89-3340-4E5C-9CEE-04A66D8CBE85}" presName="tx1" presStyleLbl="revTx" presStyleIdx="1" presStyleCnt="5"/>
      <dgm:spPr/>
    </dgm:pt>
    <dgm:pt modelId="{93C324C0-9CC9-4A0E-8CDA-2CD3A3B9B30A}" type="pres">
      <dgm:prSet presAssocID="{04B8ED89-3340-4E5C-9CEE-04A66D8CBE85}" presName="vert1" presStyleCnt="0"/>
      <dgm:spPr/>
    </dgm:pt>
    <dgm:pt modelId="{F3A53031-6F93-42EC-A4A2-3DED88C61753}" type="pres">
      <dgm:prSet presAssocID="{F6725E18-0AC6-4E73-B46B-88CFDC496E45}" presName="thickLine" presStyleLbl="alignNode1" presStyleIdx="2" presStyleCnt="5"/>
      <dgm:spPr/>
    </dgm:pt>
    <dgm:pt modelId="{17DA3201-980E-4374-B5EF-090DD7C37627}" type="pres">
      <dgm:prSet presAssocID="{F6725E18-0AC6-4E73-B46B-88CFDC496E45}" presName="horz1" presStyleCnt="0"/>
      <dgm:spPr/>
    </dgm:pt>
    <dgm:pt modelId="{F88531F9-B497-475D-8E64-55F900A29EEE}" type="pres">
      <dgm:prSet presAssocID="{F6725E18-0AC6-4E73-B46B-88CFDC496E45}" presName="tx1" presStyleLbl="revTx" presStyleIdx="2" presStyleCnt="5"/>
      <dgm:spPr/>
    </dgm:pt>
    <dgm:pt modelId="{1800C917-16F8-4E46-B9F7-71A90CA6911D}" type="pres">
      <dgm:prSet presAssocID="{F6725E18-0AC6-4E73-B46B-88CFDC496E45}" presName="vert1" presStyleCnt="0"/>
      <dgm:spPr/>
    </dgm:pt>
    <dgm:pt modelId="{9BF3BC61-66C8-4FBA-8E00-1A2CEE4E2402}" type="pres">
      <dgm:prSet presAssocID="{8E630362-9473-4ADB-9E27-EDA5B5EA1951}" presName="thickLine" presStyleLbl="alignNode1" presStyleIdx="3" presStyleCnt="5"/>
      <dgm:spPr/>
    </dgm:pt>
    <dgm:pt modelId="{5D6F11BE-469F-4D4C-9F05-E06F8414E4CC}" type="pres">
      <dgm:prSet presAssocID="{8E630362-9473-4ADB-9E27-EDA5B5EA1951}" presName="horz1" presStyleCnt="0"/>
      <dgm:spPr/>
    </dgm:pt>
    <dgm:pt modelId="{DFD1C694-DD97-4A29-B923-1CB86322239C}" type="pres">
      <dgm:prSet presAssocID="{8E630362-9473-4ADB-9E27-EDA5B5EA1951}" presName="tx1" presStyleLbl="revTx" presStyleIdx="3" presStyleCnt="5"/>
      <dgm:spPr/>
    </dgm:pt>
    <dgm:pt modelId="{F85C4AB9-6C60-4C4D-A00C-0E264BC882F8}" type="pres">
      <dgm:prSet presAssocID="{8E630362-9473-4ADB-9E27-EDA5B5EA1951}" presName="vert1" presStyleCnt="0"/>
      <dgm:spPr/>
    </dgm:pt>
    <dgm:pt modelId="{DA6B9E9C-F0C1-4B67-A400-E8BE1776A16C}" type="pres">
      <dgm:prSet presAssocID="{C81961A6-B17E-4984-88D5-D4047F11AD77}" presName="thickLine" presStyleLbl="alignNode1" presStyleIdx="4" presStyleCnt="5"/>
      <dgm:spPr/>
    </dgm:pt>
    <dgm:pt modelId="{F861E151-E8C6-42A0-89D3-4C12A1192E06}" type="pres">
      <dgm:prSet presAssocID="{C81961A6-B17E-4984-88D5-D4047F11AD77}" presName="horz1" presStyleCnt="0"/>
      <dgm:spPr/>
    </dgm:pt>
    <dgm:pt modelId="{BC2A827F-EFF2-491A-8AC2-6B0C1B887B23}" type="pres">
      <dgm:prSet presAssocID="{C81961A6-B17E-4984-88D5-D4047F11AD77}" presName="tx1" presStyleLbl="revTx" presStyleIdx="4" presStyleCnt="5"/>
      <dgm:spPr/>
    </dgm:pt>
    <dgm:pt modelId="{2CE82931-5C37-4D20-9D2C-4B0C67AE87E6}" type="pres">
      <dgm:prSet presAssocID="{C81961A6-B17E-4984-88D5-D4047F11AD77}" presName="vert1" presStyleCnt="0"/>
      <dgm:spPr/>
    </dgm:pt>
  </dgm:ptLst>
  <dgm:cxnLst>
    <dgm:cxn modelId="{989C801A-6383-4B8E-9024-8D20F5888669}" srcId="{961FF7F1-87F8-4F17-83DD-2CF0C904F541}" destId="{04B8ED89-3340-4E5C-9CEE-04A66D8CBE85}" srcOrd="1" destOrd="0" parTransId="{36703CDA-15E0-48B2-82DD-4E05E15C33C6}" sibTransId="{0935141C-AA27-42C5-A7CC-73DAF16605CA}"/>
    <dgm:cxn modelId="{182F6344-E746-42E1-AD55-D0F5783537F7}" type="presOf" srcId="{F6725E18-0AC6-4E73-B46B-88CFDC496E45}" destId="{F88531F9-B497-475D-8E64-55F900A29EEE}" srcOrd="0" destOrd="0" presId="urn:microsoft.com/office/officeart/2008/layout/LinedList"/>
    <dgm:cxn modelId="{37C0F44C-5E0B-43B9-876F-D1FA35DF850B}" type="presOf" srcId="{8E630362-9473-4ADB-9E27-EDA5B5EA1951}" destId="{DFD1C694-DD97-4A29-B923-1CB86322239C}" srcOrd="0" destOrd="0" presId="urn:microsoft.com/office/officeart/2008/layout/LinedList"/>
    <dgm:cxn modelId="{9A286E53-573D-4D0A-8890-1C2AA1212B49}" srcId="{961FF7F1-87F8-4F17-83DD-2CF0C904F541}" destId="{8E630362-9473-4ADB-9E27-EDA5B5EA1951}" srcOrd="3" destOrd="0" parTransId="{A84037AC-BBD5-4F71-94D1-D58008C56526}" sibTransId="{CEC8F723-F783-4C96-9BA7-5F4619A9D351}"/>
    <dgm:cxn modelId="{A8012E78-8276-457E-825F-AD49EA25E7EC}" srcId="{961FF7F1-87F8-4F17-83DD-2CF0C904F541}" destId="{E6528BE8-7488-41AA-9DB2-E94E568CC1D8}" srcOrd="0" destOrd="0" parTransId="{EA488EDB-3B87-4E14-A34A-C1EE494EFC45}" sibTransId="{1178F59B-3B45-41A6-A3F5-F07F0EEB4A3B}"/>
    <dgm:cxn modelId="{E8E2B197-C3EB-44C9-B65D-8C3581A6DF7D}" srcId="{961FF7F1-87F8-4F17-83DD-2CF0C904F541}" destId="{C81961A6-B17E-4984-88D5-D4047F11AD77}" srcOrd="4" destOrd="0" parTransId="{458E724B-03CF-49E9-8235-A090592502F9}" sibTransId="{91A33493-294E-4B3C-B282-77E8BE831CB3}"/>
    <dgm:cxn modelId="{6A7DCECA-5D06-4FEC-B3D2-0144E211F829}" type="presOf" srcId="{961FF7F1-87F8-4F17-83DD-2CF0C904F541}" destId="{DCF2B91E-0F98-478A-A619-0254932E84AF}" srcOrd="0" destOrd="0" presId="urn:microsoft.com/office/officeart/2008/layout/LinedList"/>
    <dgm:cxn modelId="{A308F3CA-E201-4350-BE70-4E927C1C848B}" type="presOf" srcId="{C81961A6-B17E-4984-88D5-D4047F11AD77}" destId="{BC2A827F-EFF2-491A-8AC2-6B0C1B887B23}" srcOrd="0" destOrd="0" presId="urn:microsoft.com/office/officeart/2008/layout/LinedList"/>
    <dgm:cxn modelId="{1AC28DD0-80E8-40A9-8D99-6B30CF082D43}" srcId="{961FF7F1-87F8-4F17-83DD-2CF0C904F541}" destId="{F6725E18-0AC6-4E73-B46B-88CFDC496E45}" srcOrd="2" destOrd="0" parTransId="{35536E2B-B8EB-47E9-841C-EFC46C6D8589}" sibTransId="{F86C78F7-A8FA-49CA-836E-0EBB712E28A2}"/>
    <dgm:cxn modelId="{40410DDD-100D-4288-8107-CAD578DC606D}" type="presOf" srcId="{E6528BE8-7488-41AA-9DB2-E94E568CC1D8}" destId="{0C77FE28-83C8-4EA3-B8F2-C1CCEAB9BC2E}" srcOrd="0" destOrd="0" presId="urn:microsoft.com/office/officeart/2008/layout/LinedList"/>
    <dgm:cxn modelId="{ADEDAAE1-3D3F-46F5-A667-C96820DA912B}" type="presOf" srcId="{04B8ED89-3340-4E5C-9CEE-04A66D8CBE85}" destId="{34B95D40-B2C8-4B6D-B344-9C25C540E1FA}" srcOrd="0" destOrd="0" presId="urn:microsoft.com/office/officeart/2008/layout/LinedList"/>
    <dgm:cxn modelId="{6DB2393A-C4B0-4FCA-8591-72951E41D105}" type="presParOf" srcId="{DCF2B91E-0F98-478A-A619-0254932E84AF}" destId="{CB7EBFF0-8EE4-4AF4-A741-4C58E961D394}" srcOrd="0" destOrd="0" presId="urn:microsoft.com/office/officeart/2008/layout/LinedList"/>
    <dgm:cxn modelId="{13621D1A-F7B3-4B23-ADD9-1B2C9DC07C1F}" type="presParOf" srcId="{DCF2B91E-0F98-478A-A619-0254932E84AF}" destId="{F1B83674-98E9-4DF2-AED9-1A5A61DF7ACF}" srcOrd="1" destOrd="0" presId="urn:microsoft.com/office/officeart/2008/layout/LinedList"/>
    <dgm:cxn modelId="{A2E30E79-742B-4967-B078-CC9119D8B39E}" type="presParOf" srcId="{F1B83674-98E9-4DF2-AED9-1A5A61DF7ACF}" destId="{0C77FE28-83C8-4EA3-B8F2-C1CCEAB9BC2E}" srcOrd="0" destOrd="0" presId="urn:microsoft.com/office/officeart/2008/layout/LinedList"/>
    <dgm:cxn modelId="{270FF483-5D32-464E-A750-71968936E14F}" type="presParOf" srcId="{F1B83674-98E9-4DF2-AED9-1A5A61DF7ACF}" destId="{5EA870CF-D9B4-4026-B543-4BFDB301541E}" srcOrd="1" destOrd="0" presId="urn:microsoft.com/office/officeart/2008/layout/LinedList"/>
    <dgm:cxn modelId="{76AF4958-C77E-495B-8495-66BE5FA96825}" type="presParOf" srcId="{DCF2B91E-0F98-478A-A619-0254932E84AF}" destId="{7942FE62-2A02-4D7E-9505-51A3F765F55D}" srcOrd="2" destOrd="0" presId="urn:microsoft.com/office/officeart/2008/layout/LinedList"/>
    <dgm:cxn modelId="{2A714EB6-5F61-462C-BCFB-02E9DBDABCD4}" type="presParOf" srcId="{DCF2B91E-0F98-478A-A619-0254932E84AF}" destId="{6A27AA18-370E-402F-AE83-AC86A05C3113}" srcOrd="3" destOrd="0" presId="urn:microsoft.com/office/officeart/2008/layout/LinedList"/>
    <dgm:cxn modelId="{F5206021-B762-4BAE-B623-43EBC742CE7E}" type="presParOf" srcId="{6A27AA18-370E-402F-AE83-AC86A05C3113}" destId="{34B95D40-B2C8-4B6D-B344-9C25C540E1FA}" srcOrd="0" destOrd="0" presId="urn:microsoft.com/office/officeart/2008/layout/LinedList"/>
    <dgm:cxn modelId="{40F86480-A29A-4229-96C6-DAEC35241C22}" type="presParOf" srcId="{6A27AA18-370E-402F-AE83-AC86A05C3113}" destId="{93C324C0-9CC9-4A0E-8CDA-2CD3A3B9B30A}" srcOrd="1" destOrd="0" presId="urn:microsoft.com/office/officeart/2008/layout/LinedList"/>
    <dgm:cxn modelId="{7E422F50-0E4D-4CE7-B4BE-45C89CCC39AE}" type="presParOf" srcId="{DCF2B91E-0F98-478A-A619-0254932E84AF}" destId="{F3A53031-6F93-42EC-A4A2-3DED88C61753}" srcOrd="4" destOrd="0" presId="urn:microsoft.com/office/officeart/2008/layout/LinedList"/>
    <dgm:cxn modelId="{6F75C501-74FB-495C-AD17-FC28DAB168ED}" type="presParOf" srcId="{DCF2B91E-0F98-478A-A619-0254932E84AF}" destId="{17DA3201-980E-4374-B5EF-090DD7C37627}" srcOrd="5" destOrd="0" presId="urn:microsoft.com/office/officeart/2008/layout/LinedList"/>
    <dgm:cxn modelId="{5417F60F-FEFD-482B-8B49-A1E88A7006DC}" type="presParOf" srcId="{17DA3201-980E-4374-B5EF-090DD7C37627}" destId="{F88531F9-B497-475D-8E64-55F900A29EEE}" srcOrd="0" destOrd="0" presId="urn:microsoft.com/office/officeart/2008/layout/LinedList"/>
    <dgm:cxn modelId="{7E805524-CBAA-471A-B84F-9E7458AD8B75}" type="presParOf" srcId="{17DA3201-980E-4374-B5EF-090DD7C37627}" destId="{1800C917-16F8-4E46-B9F7-71A90CA6911D}" srcOrd="1" destOrd="0" presId="urn:microsoft.com/office/officeart/2008/layout/LinedList"/>
    <dgm:cxn modelId="{3750EAFE-92FC-47A3-AE44-B994EF73A45C}" type="presParOf" srcId="{DCF2B91E-0F98-478A-A619-0254932E84AF}" destId="{9BF3BC61-66C8-4FBA-8E00-1A2CEE4E2402}" srcOrd="6" destOrd="0" presId="urn:microsoft.com/office/officeart/2008/layout/LinedList"/>
    <dgm:cxn modelId="{4CFF1100-C6B3-470D-A89B-BA41AF884C5A}" type="presParOf" srcId="{DCF2B91E-0F98-478A-A619-0254932E84AF}" destId="{5D6F11BE-469F-4D4C-9F05-E06F8414E4CC}" srcOrd="7" destOrd="0" presId="urn:microsoft.com/office/officeart/2008/layout/LinedList"/>
    <dgm:cxn modelId="{AC6A058C-B7F5-4CE3-AB57-A5597FC922C7}" type="presParOf" srcId="{5D6F11BE-469F-4D4C-9F05-E06F8414E4CC}" destId="{DFD1C694-DD97-4A29-B923-1CB86322239C}" srcOrd="0" destOrd="0" presId="urn:microsoft.com/office/officeart/2008/layout/LinedList"/>
    <dgm:cxn modelId="{25827F96-FAE0-4680-B0EB-4A8B5FC1B63E}" type="presParOf" srcId="{5D6F11BE-469F-4D4C-9F05-E06F8414E4CC}" destId="{F85C4AB9-6C60-4C4D-A00C-0E264BC882F8}" srcOrd="1" destOrd="0" presId="urn:microsoft.com/office/officeart/2008/layout/LinedList"/>
    <dgm:cxn modelId="{87FFF707-1273-4FFB-97E4-DFC76223041B}" type="presParOf" srcId="{DCF2B91E-0F98-478A-A619-0254932E84AF}" destId="{DA6B9E9C-F0C1-4B67-A400-E8BE1776A16C}" srcOrd="8" destOrd="0" presId="urn:microsoft.com/office/officeart/2008/layout/LinedList"/>
    <dgm:cxn modelId="{129F061C-0FB2-43E9-9891-8D929CFA2851}" type="presParOf" srcId="{DCF2B91E-0F98-478A-A619-0254932E84AF}" destId="{F861E151-E8C6-42A0-89D3-4C12A1192E06}" srcOrd="9" destOrd="0" presId="urn:microsoft.com/office/officeart/2008/layout/LinedList"/>
    <dgm:cxn modelId="{FD57672A-96EE-40BC-8344-720802DC0B09}" type="presParOf" srcId="{F861E151-E8C6-42A0-89D3-4C12A1192E06}" destId="{BC2A827F-EFF2-491A-8AC2-6B0C1B887B23}" srcOrd="0" destOrd="0" presId="urn:microsoft.com/office/officeart/2008/layout/LinedList"/>
    <dgm:cxn modelId="{EC2FEE5A-2506-4964-A034-F34686108A54}" type="presParOf" srcId="{F861E151-E8C6-42A0-89D3-4C12A1192E06}" destId="{2CE82931-5C37-4D20-9D2C-4B0C67AE87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BD1FFF-C51E-4766-97A1-461BC2F6502E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4CCAFDC-0190-4904-8EB2-4F0F0991B900}">
      <dgm:prSet/>
      <dgm:spPr/>
      <dgm:t>
        <a:bodyPr/>
        <a:lstStyle/>
        <a:p>
          <a:r>
            <a:rPr lang="en-US" b="1"/>
            <a:t>Dataset:</a:t>
          </a:r>
          <a:r>
            <a:rPr lang="en-US"/>
            <a:t> Fashion-MNIST (70,000 grayscale images, 28×28 pixels, 10 classes)</a:t>
          </a:r>
        </a:p>
      </dgm:t>
    </dgm:pt>
    <dgm:pt modelId="{0ED5E9AF-85D7-444B-B48B-B92AD12A3625}" type="parTrans" cxnId="{A203EC4B-CFEB-4CFF-91CF-CA84C2568F36}">
      <dgm:prSet/>
      <dgm:spPr/>
      <dgm:t>
        <a:bodyPr/>
        <a:lstStyle/>
        <a:p>
          <a:endParaRPr lang="en-US"/>
        </a:p>
      </dgm:t>
    </dgm:pt>
    <dgm:pt modelId="{78B8D833-CFC8-4F87-A292-CF96B7142583}" type="sibTrans" cxnId="{A203EC4B-CFEB-4CFF-91CF-CA84C2568F36}">
      <dgm:prSet/>
      <dgm:spPr/>
      <dgm:t>
        <a:bodyPr/>
        <a:lstStyle/>
        <a:p>
          <a:endParaRPr lang="en-US"/>
        </a:p>
      </dgm:t>
    </dgm:pt>
    <dgm:pt modelId="{FBF6E408-D62A-4339-B875-0EF936D05307}">
      <dgm:prSet/>
      <dgm:spPr/>
      <dgm:t>
        <a:bodyPr/>
        <a:lstStyle/>
        <a:p>
          <a:r>
            <a:rPr lang="en-US"/>
            <a:t>60,000 for training (80/20 split for train/validation)</a:t>
          </a:r>
        </a:p>
      </dgm:t>
    </dgm:pt>
    <dgm:pt modelId="{D008655B-F378-477E-974D-7FA4BB00434B}" type="parTrans" cxnId="{25ADE7A1-0483-4486-82A9-E6A685498D47}">
      <dgm:prSet/>
      <dgm:spPr/>
      <dgm:t>
        <a:bodyPr/>
        <a:lstStyle/>
        <a:p>
          <a:endParaRPr lang="en-US"/>
        </a:p>
      </dgm:t>
    </dgm:pt>
    <dgm:pt modelId="{52D5AC69-9A56-4213-85DA-A7DBB1387D15}" type="sibTrans" cxnId="{25ADE7A1-0483-4486-82A9-E6A685498D47}">
      <dgm:prSet/>
      <dgm:spPr/>
      <dgm:t>
        <a:bodyPr/>
        <a:lstStyle/>
        <a:p>
          <a:endParaRPr lang="en-US"/>
        </a:p>
      </dgm:t>
    </dgm:pt>
    <dgm:pt modelId="{D1EC8B57-EC19-4F4C-9BA3-88BDEB9ACFF5}">
      <dgm:prSet/>
      <dgm:spPr/>
      <dgm:t>
        <a:bodyPr/>
        <a:lstStyle/>
        <a:p>
          <a:r>
            <a:rPr lang="en-US"/>
            <a:t>10,000 for testing</a:t>
          </a:r>
        </a:p>
      </dgm:t>
    </dgm:pt>
    <dgm:pt modelId="{0FD55E5F-1747-4A7D-880D-E5BE0F6D21A6}" type="parTrans" cxnId="{54A25E7E-C6C7-488E-8CBC-ABD694008DC6}">
      <dgm:prSet/>
      <dgm:spPr/>
      <dgm:t>
        <a:bodyPr/>
        <a:lstStyle/>
        <a:p>
          <a:endParaRPr lang="en-US"/>
        </a:p>
      </dgm:t>
    </dgm:pt>
    <dgm:pt modelId="{0FBC7B66-7B15-42AB-88C4-9C0FF33E4D4C}" type="sibTrans" cxnId="{54A25E7E-C6C7-488E-8CBC-ABD694008DC6}">
      <dgm:prSet/>
      <dgm:spPr/>
      <dgm:t>
        <a:bodyPr/>
        <a:lstStyle/>
        <a:p>
          <a:endParaRPr lang="en-US"/>
        </a:p>
      </dgm:t>
    </dgm:pt>
    <dgm:pt modelId="{2FDA6420-B1A0-4372-8D81-33B195DDC261}">
      <dgm:prSet/>
      <dgm:spPr/>
      <dgm:t>
        <a:bodyPr/>
        <a:lstStyle/>
        <a:p>
          <a:r>
            <a:rPr lang="en-US" b="1"/>
            <a:t>Transformations:</a:t>
          </a:r>
          <a:endParaRPr lang="en-US"/>
        </a:p>
      </dgm:t>
    </dgm:pt>
    <dgm:pt modelId="{99FCBCD9-53C5-47F3-B2CE-6A0007CA46A6}" type="parTrans" cxnId="{F7CE3C78-147D-49F1-8A58-F2B4A4CBA461}">
      <dgm:prSet/>
      <dgm:spPr/>
      <dgm:t>
        <a:bodyPr/>
        <a:lstStyle/>
        <a:p>
          <a:endParaRPr lang="en-US"/>
        </a:p>
      </dgm:t>
    </dgm:pt>
    <dgm:pt modelId="{F0A27FA2-E29A-458D-8554-FF9F7ED866AF}" type="sibTrans" cxnId="{F7CE3C78-147D-49F1-8A58-F2B4A4CBA461}">
      <dgm:prSet/>
      <dgm:spPr/>
      <dgm:t>
        <a:bodyPr/>
        <a:lstStyle/>
        <a:p>
          <a:endParaRPr lang="en-US"/>
        </a:p>
      </dgm:t>
    </dgm:pt>
    <dgm:pt modelId="{0F1C0C96-76F2-468E-AC86-34BC77969D30}">
      <dgm:prSet/>
      <dgm:spPr/>
      <dgm:t>
        <a:bodyPr/>
        <a:lstStyle/>
        <a:p>
          <a:r>
            <a:rPr lang="en-US"/>
            <a:t>Convert to tensor</a:t>
          </a:r>
        </a:p>
      </dgm:t>
    </dgm:pt>
    <dgm:pt modelId="{69CA23FC-4FAE-46A3-A062-3BB3A446B614}" type="parTrans" cxnId="{5766AA94-FC34-4925-A0E3-F13ADA6BB24D}">
      <dgm:prSet/>
      <dgm:spPr/>
      <dgm:t>
        <a:bodyPr/>
        <a:lstStyle/>
        <a:p>
          <a:endParaRPr lang="en-US"/>
        </a:p>
      </dgm:t>
    </dgm:pt>
    <dgm:pt modelId="{C89CC2EF-783A-4694-8C60-02CFD5F56399}" type="sibTrans" cxnId="{5766AA94-FC34-4925-A0E3-F13ADA6BB24D}">
      <dgm:prSet/>
      <dgm:spPr/>
      <dgm:t>
        <a:bodyPr/>
        <a:lstStyle/>
        <a:p>
          <a:endParaRPr lang="en-US"/>
        </a:p>
      </dgm:t>
    </dgm:pt>
    <dgm:pt modelId="{A4FEBEEC-CE9A-493C-A4A3-D4AB6A5C7DDC}">
      <dgm:prSet/>
      <dgm:spPr/>
      <dgm:t>
        <a:bodyPr/>
        <a:lstStyle/>
        <a:p>
          <a:r>
            <a:rPr lang="en-US"/>
            <a:t>Normalize pixel values (–1, 1)</a:t>
          </a:r>
        </a:p>
      </dgm:t>
    </dgm:pt>
    <dgm:pt modelId="{3360F87C-EF22-4088-BD5F-8854F3A652E5}" type="parTrans" cxnId="{C49D93A9-63F5-4FD0-9159-2C83DE76E2B0}">
      <dgm:prSet/>
      <dgm:spPr/>
      <dgm:t>
        <a:bodyPr/>
        <a:lstStyle/>
        <a:p>
          <a:endParaRPr lang="en-US"/>
        </a:p>
      </dgm:t>
    </dgm:pt>
    <dgm:pt modelId="{6718C811-3AF3-4696-9BA8-DA4799606864}" type="sibTrans" cxnId="{C49D93A9-63F5-4FD0-9159-2C83DE76E2B0}">
      <dgm:prSet/>
      <dgm:spPr/>
      <dgm:t>
        <a:bodyPr/>
        <a:lstStyle/>
        <a:p>
          <a:endParaRPr lang="en-US"/>
        </a:p>
      </dgm:t>
    </dgm:pt>
    <dgm:pt modelId="{AF5404CB-92BD-40E4-832D-C769D6DD86CE}">
      <dgm:prSet/>
      <dgm:spPr/>
      <dgm:t>
        <a:bodyPr/>
        <a:lstStyle/>
        <a:p>
          <a:r>
            <a:rPr lang="en-US" b="1"/>
            <a:t>Batch Size:</a:t>
          </a:r>
          <a:r>
            <a:rPr lang="en-US"/>
            <a:t> 64</a:t>
          </a:r>
        </a:p>
      </dgm:t>
    </dgm:pt>
    <dgm:pt modelId="{17F4CFFF-2DEE-43AC-8108-1E26B81C3E7F}" type="parTrans" cxnId="{83CD9FC7-EA5D-415A-AB43-13D2560A9BC9}">
      <dgm:prSet/>
      <dgm:spPr/>
      <dgm:t>
        <a:bodyPr/>
        <a:lstStyle/>
        <a:p>
          <a:endParaRPr lang="en-US"/>
        </a:p>
      </dgm:t>
    </dgm:pt>
    <dgm:pt modelId="{75788277-B6E2-4AAF-94CE-5CC70E315498}" type="sibTrans" cxnId="{83CD9FC7-EA5D-415A-AB43-13D2560A9BC9}">
      <dgm:prSet/>
      <dgm:spPr/>
      <dgm:t>
        <a:bodyPr/>
        <a:lstStyle/>
        <a:p>
          <a:endParaRPr lang="en-US"/>
        </a:p>
      </dgm:t>
    </dgm:pt>
    <dgm:pt modelId="{143ACA15-7CA0-4730-9D59-349723FD71CB}">
      <dgm:prSet/>
      <dgm:spPr/>
      <dgm:t>
        <a:bodyPr/>
        <a:lstStyle/>
        <a:p>
          <a:r>
            <a:rPr lang="en-US" b="1"/>
            <a:t>Key Classes:</a:t>
          </a:r>
          <a:r>
            <a:rPr lang="en-US"/>
            <a:t> T-shirt/top, Trouser, Dress, Coat, Sneaker, etc.</a:t>
          </a:r>
        </a:p>
      </dgm:t>
    </dgm:pt>
    <dgm:pt modelId="{C7A71A2D-577A-4ECA-A4DD-02179499B112}" type="parTrans" cxnId="{13F739F7-74C5-45F0-A5EA-67634348D948}">
      <dgm:prSet/>
      <dgm:spPr/>
      <dgm:t>
        <a:bodyPr/>
        <a:lstStyle/>
        <a:p>
          <a:endParaRPr lang="en-US"/>
        </a:p>
      </dgm:t>
    </dgm:pt>
    <dgm:pt modelId="{993CABAF-3FA7-44A9-A864-502FB98F0C04}" type="sibTrans" cxnId="{13F739F7-74C5-45F0-A5EA-67634348D948}">
      <dgm:prSet/>
      <dgm:spPr/>
      <dgm:t>
        <a:bodyPr/>
        <a:lstStyle/>
        <a:p>
          <a:endParaRPr lang="en-US"/>
        </a:p>
      </dgm:t>
    </dgm:pt>
    <dgm:pt modelId="{BDFFF614-55A9-4CBC-AD11-7ABF51231020}" type="pres">
      <dgm:prSet presAssocID="{F0BD1FFF-C51E-4766-97A1-461BC2F6502E}" presName="matrix" presStyleCnt="0">
        <dgm:presLayoutVars>
          <dgm:chMax val="1"/>
          <dgm:dir/>
          <dgm:resizeHandles val="exact"/>
        </dgm:presLayoutVars>
      </dgm:prSet>
      <dgm:spPr/>
    </dgm:pt>
    <dgm:pt modelId="{21BF4486-C40F-49E2-A011-6BE892A03F40}" type="pres">
      <dgm:prSet presAssocID="{F0BD1FFF-C51E-4766-97A1-461BC2F6502E}" presName="diamond" presStyleLbl="bgShp" presStyleIdx="0" presStyleCnt="1"/>
      <dgm:spPr/>
    </dgm:pt>
    <dgm:pt modelId="{CB299541-23A4-4475-8FF2-2F190C67B810}" type="pres">
      <dgm:prSet presAssocID="{F0BD1FFF-C51E-4766-97A1-461BC2F6502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42CC28-1B6E-48EB-A5D4-BFBDB97FB17E}" type="pres">
      <dgm:prSet presAssocID="{F0BD1FFF-C51E-4766-97A1-461BC2F6502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D5D3C59-D4C4-4E5F-8EA0-ED82C7F98A54}" type="pres">
      <dgm:prSet presAssocID="{F0BD1FFF-C51E-4766-97A1-461BC2F6502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71B492-884F-49A0-88B7-D9C62F8561A6}" type="pres">
      <dgm:prSet presAssocID="{F0BD1FFF-C51E-4766-97A1-461BC2F6502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E978601-01C8-46BA-94B1-914E195D08DA}" type="presOf" srcId="{F0BD1FFF-C51E-4766-97A1-461BC2F6502E}" destId="{BDFFF614-55A9-4CBC-AD11-7ABF51231020}" srcOrd="0" destOrd="0" presId="urn:microsoft.com/office/officeart/2005/8/layout/matrix3"/>
    <dgm:cxn modelId="{0B84061D-7453-4267-A17E-703F6D439C18}" type="presOf" srcId="{143ACA15-7CA0-4730-9D59-349723FD71CB}" destId="{6D71B492-884F-49A0-88B7-D9C62F8561A6}" srcOrd="0" destOrd="0" presId="urn:microsoft.com/office/officeart/2005/8/layout/matrix3"/>
    <dgm:cxn modelId="{3565F123-7A29-4312-8B73-53207AA10B8C}" type="presOf" srcId="{D1EC8B57-EC19-4F4C-9BA3-88BDEB9ACFF5}" destId="{CB299541-23A4-4475-8FF2-2F190C67B810}" srcOrd="0" destOrd="2" presId="urn:microsoft.com/office/officeart/2005/8/layout/matrix3"/>
    <dgm:cxn modelId="{A203EC4B-CFEB-4CFF-91CF-CA84C2568F36}" srcId="{F0BD1FFF-C51E-4766-97A1-461BC2F6502E}" destId="{F4CCAFDC-0190-4904-8EB2-4F0F0991B900}" srcOrd="0" destOrd="0" parTransId="{0ED5E9AF-85D7-444B-B48B-B92AD12A3625}" sibTransId="{78B8D833-CFC8-4F87-A292-CF96B7142583}"/>
    <dgm:cxn modelId="{F7CE3C78-147D-49F1-8A58-F2B4A4CBA461}" srcId="{F0BD1FFF-C51E-4766-97A1-461BC2F6502E}" destId="{2FDA6420-B1A0-4372-8D81-33B195DDC261}" srcOrd="1" destOrd="0" parTransId="{99FCBCD9-53C5-47F3-B2CE-6A0007CA46A6}" sibTransId="{F0A27FA2-E29A-458D-8554-FF9F7ED866AF}"/>
    <dgm:cxn modelId="{CD975E7B-4D97-4CF0-8038-2D02CB41F7E7}" type="presOf" srcId="{FBF6E408-D62A-4339-B875-0EF936D05307}" destId="{CB299541-23A4-4475-8FF2-2F190C67B810}" srcOrd="0" destOrd="1" presId="urn:microsoft.com/office/officeart/2005/8/layout/matrix3"/>
    <dgm:cxn modelId="{54A25E7E-C6C7-488E-8CBC-ABD694008DC6}" srcId="{F4CCAFDC-0190-4904-8EB2-4F0F0991B900}" destId="{D1EC8B57-EC19-4F4C-9BA3-88BDEB9ACFF5}" srcOrd="1" destOrd="0" parTransId="{0FD55E5F-1747-4A7D-880D-E5BE0F6D21A6}" sibTransId="{0FBC7B66-7B15-42AB-88C4-9C0FF33E4D4C}"/>
    <dgm:cxn modelId="{E4A7CD7E-C1DF-4AF6-989C-1618F7F0D041}" type="presOf" srcId="{F4CCAFDC-0190-4904-8EB2-4F0F0991B900}" destId="{CB299541-23A4-4475-8FF2-2F190C67B810}" srcOrd="0" destOrd="0" presId="urn:microsoft.com/office/officeart/2005/8/layout/matrix3"/>
    <dgm:cxn modelId="{40BF7E7F-B6E8-4BD6-9544-9E39738B59FE}" type="presOf" srcId="{0F1C0C96-76F2-468E-AC86-34BC77969D30}" destId="{3642CC28-1B6E-48EB-A5D4-BFBDB97FB17E}" srcOrd="0" destOrd="1" presId="urn:microsoft.com/office/officeart/2005/8/layout/matrix3"/>
    <dgm:cxn modelId="{5766AA94-FC34-4925-A0E3-F13ADA6BB24D}" srcId="{2FDA6420-B1A0-4372-8D81-33B195DDC261}" destId="{0F1C0C96-76F2-468E-AC86-34BC77969D30}" srcOrd="0" destOrd="0" parTransId="{69CA23FC-4FAE-46A3-A062-3BB3A446B614}" sibTransId="{C89CC2EF-783A-4694-8C60-02CFD5F56399}"/>
    <dgm:cxn modelId="{25ADE7A1-0483-4486-82A9-E6A685498D47}" srcId="{F4CCAFDC-0190-4904-8EB2-4F0F0991B900}" destId="{FBF6E408-D62A-4339-B875-0EF936D05307}" srcOrd="0" destOrd="0" parTransId="{D008655B-F378-477E-974D-7FA4BB00434B}" sibTransId="{52D5AC69-9A56-4213-85DA-A7DBB1387D15}"/>
    <dgm:cxn modelId="{C49D93A9-63F5-4FD0-9159-2C83DE76E2B0}" srcId="{2FDA6420-B1A0-4372-8D81-33B195DDC261}" destId="{A4FEBEEC-CE9A-493C-A4A3-D4AB6A5C7DDC}" srcOrd="1" destOrd="0" parTransId="{3360F87C-EF22-4088-BD5F-8854F3A652E5}" sibTransId="{6718C811-3AF3-4696-9BA8-DA4799606864}"/>
    <dgm:cxn modelId="{8E9625BB-16E3-4019-BED0-0D9C26C709C8}" type="presOf" srcId="{A4FEBEEC-CE9A-493C-A4A3-D4AB6A5C7DDC}" destId="{3642CC28-1B6E-48EB-A5D4-BFBDB97FB17E}" srcOrd="0" destOrd="2" presId="urn:microsoft.com/office/officeart/2005/8/layout/matrix3"/>
    <dgm:cxn modelId="{83CD9FC7-EA5D-415A-AB43-13D2560A9BC9}" srcId="{F0BD1FFF-C51E-4766-97A1-461BC2F6502E}" destId="{AF5404CB-92BD-40E4-832D-C769D6DD86CE}" srcOrd="2" destOrd="0" parTransId="{17F4CFFF-2DEE-43AC-8108-1E26B81C3E7F}" sibTransId="{75788277-B6E2-4AAF-94CE-5CC70E315498}"/>
    <dgm:cxn modelId="{669F2DCA-03E6-4C71-8A4A-2C2F2AE2AFE0}" type="presOf" srcId="{2FDA6420-B1A0-4372-8D81-33B195DDC261}" destId="{3642CC28-1B6E-48EB-A5D4-BFBDB97FB17E}" srcOrd="0" destOrd="0" presId="urn:microsoft.com/office/officeart/2005/8/layout/matrix3"/>
    <dgm:cxn modelId="{1FE250D4-B0E0-4A35-B8FB-F7932E18BA90}" type="presOf" srcId="{AF5404CB-92BD-40E4-832D-C769D6DD86CE}" destId="{FD5D3C59-D4C4-4E5F-8EA0-ED82C7F98A54}" srcOrd="0" destOrd="0" presId="urn:microsoft.com/office/officeart/2005/8/layout/matrix3"/>
    <dgm:cxn modelId="{13F739F7-74C5-45F0-A5EA-67634348D948}" srcId="{F0BD1FFF-C51E-4766-97A1-461BC2F6502E}" destId="{143ACA15-7CA0-4730-9D59-349723FD71CB}" srcOrd="3" destOrd="0" parTransId="{C7A71A2D-577A-4ECA-A4DD-02179499B112}" sibTransId="{993CABAF-3FA7-44A9-A864-502FB98F0C04}"/>
    <dgm:cxn modelId="{9A6F5662-AECD-485C-839F-B026BBDA89E8}" type="presParOf" srcId="{BDFFF614-55A9-4CBC-AD11-7ABF51231020}" destId="{21BF4486-C40F-49E2-A011-6BE892A03F40}" srcOrd="0" destOrd="0" presId="urn:microsoft.com/office/officeart/2005/8/layout/matrix3"/>
    <dgm:cxn modelId="{C68598C7-9FE2-4F78-910E-3192A6FB25EB}" type="presParOf" srcId="{BDFFF614-55A9-4CBC-AD11-7ABF51231020}" destId="{CB299541-23A4-4475-8FF2-2F190C67B810}" srcOrd="1" destOrd="0" presId="urn:microsoft.com/office/officeart/2005/8/layout/matrix3"/>
    <dgm:cxn modelId="{C0D0B55D-F5E3-4595-91EF-0087E2760202}" type="presParOf" srcId="{BDFFF614-55A9-4CBC-AD11-7ABF51231020}" destId="{3642CC28-1B6E-48EB-A5D4-BFBDB97FB17E}" srcOrd="2" destOrd="0" presId="urn:microsoft.com/office/officeart/2005/8/layout/matrix3"/>
    <dgm:cxn modelId="{03B2DEFD-B86E-4CE6-B31C-19B470A6E3B7}" type="presParOf" srcId="{BDFFF614-55A9-4CBC-AD11-7ABF51231020}" destId="{FD5D3C59-D4C4-4E5F-8EA0-ED82C7F98A54}" srcOrd="3" destOrd="0" presId="urn:microsoft.com/office/officeart/2005/8/layout/matrix3"/>
    <dgm:cxn modelId="{440188FF-9242-419C-9EA9-CC6340D007B9}" type="presParOf" srcId="{BDFFF614-55A9-4CBC-AD11-7ABF51231020}" destId="{6D71B492-884F-49A0-88B7-D9C62F8561A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6DAB2-7202-4678-AF7C-C6633C29F3EA}">
      <dsp:nvSpPr>
        <dsp:cNvPr id="0" name=""/>
        <dsp:cNvSpPr/>
      </dsp:nvSpPr>
      <dsp:spPr>
        <a:xfrm>
          <a:off x="947201" y="779033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36159-2BBD-4699-9C8E-E21ED4F7926B}">
      <dsp:nvSpPr>
        <dsp:cNvPr id="0" name=""/>
        <dsp:cNvSpPr/>
      </dsp:nvSpPr>
      <dsp:spPr>
        <a:xfrm>
          <a:off x="59990" y="2626271"/>
          <a:ext cx="322622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Background:</a:t>
          </a:r>
          <a:br>
            <a:rPr lang="en-US" sz="1100" b="1" kern="1200"/>
          </a:br>
          <a:r>
            <a:rPr lang="en-US" sz="1100" kern="1200"/>
            <a:t> Deep learning has transformed image classification through neural networks capable of recognizing complex visual patterns.</a:t>
          </a:r>
        </a:p>
      </dsp:txBody>
      <dsp:txXfrm>
        <a:off x="59990" y="2626271"/>
        <a:ext cx="3226223" cy="787500"/>
      </dsp:txXfrm>
    </dsp:sp>
    <dsp:sp modelId="{958B4CC4-F881-4A0B-8FA6-A8F71F1A75C0}">
      <dsp:nvSpPr>
        <dsp:cNvPr id="0" name=""/>
        <dsp:cNvSpPr/>
      </dsp:nvSpPr>
      <dsp:spPr>
        <a:xfrm>
          <a:off x="4738014" y="779033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3E3F7-EC0E-4C3A-88B9-A66EF747D744}">
      <dsp:nvSpPr>
        <dsp:cNvPr id="0" name=""/>
        <dsp:cNvSpPr/>
      </dsp:nvSpPr>
      <dsp:spPr>
        <a:xfrm>
          <a:off x="3850802" y="2626271"/>
          <a:ext cx="322622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Why this topic:</a:t>
          </a:r>
          <a:br>
            <a:rPr lang="en-US" sz="1100" b="1" kern="1200"/>
          </a:br>
          <a:r>
            <a:rPr lang="en-US" sz="1100" kern="1200"/>
            <a:t> Fashion-MNIST provides a challenging yet manageable dataset to explore how Artificial Neural Networks (ANN) and Convolutional Neural Networks (CNN) perform on visual data.</a:t>
          </a:r>
        </a:p>
      </dsp:txBody>
      <dsp:txXfrm>
        <a:off x="3850802" y="2626271"/>
        <a:ext cx="3226223" cy="787500"/>
      </dsp:txXfrm>
    </dsp:sp>
    <dsp:sp modelId="{75BA41CC-87D0-4E5F-9CB3-AF3B11AD60EF}">
      <dsp:nvSpPr>
        <dsp:cNvPr id="0" name=""/>
        <dsp:cNvSpPr/>
      </dsp:nvSpPr>
      <dsp:spPr>
        <a:xfrm>
          <a:off x="8528826" y="779033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801B0-1500-43E4-B57A-7A8C5D976FB3}">
      <dsp:nvSpPr>
        <dsp:cNvPr id="0" name=""/>
        <dsp:cNvSpPr/>
      </dsp:nvSpPr>
      <dsp:spPr>
        <a:xfrm>
          <a:off x="7641615" y="2626271"/>
          <a:ext cx="322622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Problem Statement:</a:t>
          </a:r>
          <a:br>
            <a:rPr lang="en-US" sz="1100" b="1" kern="1200"/>
          </a:br>
          <a:r>
            <a:rPr lang="en-US" sz="1100" b="1" kern="1200"/>
            <a:t> </a:t>
          </a:r>
          <a:r>
            <a:rPr lang="en-US" sz="1100" kern="1200"/>
            <a:t>Which architecture (ANN or CNN) achieves higher accuracy and better generalization in image classification tasks?</a:t>
          </a:r>
        </a:p>
      </dsp:txBody>
      <dsp:txXfrm>
        <a:off x="7641615" y="2626271"/>
        <a:ext cx="3226223" cy="78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EBFF0-8EE4-4AF4-A741-4C58E961D394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7FE28-83C8-4EA3-B8F2-C1CCEAB9BC2E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Framework:</a:t>
          </a:r>
          <a:r>
            <a:rPr lang="en-US" sz="3100" kern="1200"/>
            <a:t> PyTorch</a:t>
          </a:r>
        </a:p>
      </dsp:txBody>
      <dsp:txXfrm>
        <a:off x="0" y="675"/>
        <a:ext cx="6900512" cy="1106957"/>
      </dsp:txXfrm>
    </dsp:sp>
    <dsp:sp modelId="{7942FE62-2A02-4D7E-9505-51A3F765F55D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95D40-B2C8-4B6D-B344-9C25C540E1FA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Loss Function:</a:t>
          </a:r>
          <a:r>
            <a:rPr lang="en-US" sz="3100" kern="1200"/>
            <a:t> CrossEntropyLoss</a:t>
          </a:r>
        </a:p>
      </dsp:txBody>
      <dsp:txXfrm>
        <a:off x="0" y="1107633"/>
        <a:ext cx="6900512" cy="1106957"/>
      </dsp:txXfrm>
    </dsp:sp>
    <dsp:sp modelId="{F3A53031-6F93-42EC-A4A2-3DED88C61753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531F9-B497-475D-8E64-55F900A29EEE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Optimizer:</a:t>
          </a:r>
          <a:r>
            <a:rPr lang="en-US" sz="3100" kern="1200"/>
            <a:t> Adam (learning rate = 0.001)</a:t>
          </a:r>
        </a:p>
      </dsp:txBody>
      <dsp:txXfrm>
        <a:off x="0" y="2214591"/>
        <a:ext cx="6900512" cy="1106957"/>
      </dsp:txXfrm>
    </dsp:sp>
    <dsp:sp modelId="{9BF3BC61-66C8-4FBA-8E00-1A2CEE4E2402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1C694-DD97-4A29-B923-1CB86322239C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Regularization:</a:t>
          </a:r>
          <a:r>
            <a:rPr lang="en-US" sz="3100" kern="1200"/>
            <a:t> Dropout layers for overfitting control</a:t>
          </a:r>
        </a:p>
      </dsp:txBody>
      <dsp:txXfrm>
        <a:off x="0" y="3321549"/>
        <a:ext cx="6900512" cy="1106957"/>
      </dsp:txXfrm>
    </dsp:sp>
    <dsp:sp modelId="{DA6B9E9C-F0C1-4B67-A400-E8BE1776A16C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A827F-EFF2-491A-8AC2-6B0C1B887B23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Evaluation Metrics:</a:t>
          </a:r>
          <a:r>
            <a:rPr lang="en-US" sz="3100" kern="1200"/>
            <a:t> Training/validation accuracy, loss, confusion matrix</a:t>
          </a:r>
        </a:p>
      </dsp:txBody>
      <dsp:txXfrm>
        <a:off x="0" y="4428507"/>
        <a:ext cx="6900512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F4486-C40F-49E2-A011-6BE892A03F40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B299541-23A4-4475-8FF2-2F190C67B810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Dataset:</a:t>
          </a:r>
          <a:r>
            <a:rPr lang="en-US" sz="1600" kern="1200"/>
            <a:t> Fashion-MNIST (70,000 grayscale images, 28×28 pixels, 10 classes)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60,000 for training (80/20 split for train/validation)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10,000 for testing</a:t>
          </a:r>
        </a:p>
      </dsp:txBody>
      <dsp:txXfrm>
        <a:off x="1228411" y="621955"/>
        <a:ext cx="1919362" cy="1919362"/>
      </dsp:txXfrm>
    </dsp:sp>
    <dsp:sp modelId="{3642CC28-1B6E-48EB-A5D4-BFBDB97FB17E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Transformations: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Convert to tensor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Normalize pixel values (–1, 1)</a:t>
          </a:r>
        </a:p>
      </dsp:txBody>
      <dsp:txXfrm>
        <a:off x="3519058" y="621955"/>
        <a:ext cx="1919362" cy="1919362"/>
      </dsp:txXfrm>
    </dsp:sp>
    <dsp:sp modelId="{FD5D3C59-D4C4-4E5F-8EA0-ED82C7F98A54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Batch Size:</a:t>
          </a:r>
          <a:r>
            <a:rPr lang="en-US" sz="1600" kern="1200"/>
            <a:t> 64</a:t>
          </a:r>
        </a:p>
      </dsp:txBody>
      <dsp:txXfrm>
        <a:off x="1228411" y="2912601"/>
        <a:ext cx="1919362" cy="1919362"/>
      </dsp:txXfrm>
    </dsp:sp>
    <dsp:sp modelId="{6D71B492-884F-49A0-88B7-D9C62F8561A6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Classes:</a:t>
          </a:r>
          <a:r>
            <a:rPr lang="en-US" sz="1600" kern="1200"/>
            <a:t> T-shirt/top, Trouser, Dress, Coat, Sneaker, etc.</a:t>
          </a:r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B310A-CEBA-B8AA-0456-81C78BABE5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6250" b="625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Comparative Analysis of ANN and CNN Models on Fashion-MNIST Dataset</a:t>
            </a:r>
            <a:endParaRPr lang="en-US" sz="4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930B4-462F-76B1-AE31-7BC1714A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Introduction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83A470-D4A7-2CBC-6A17-4FC4F7D15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63882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53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34E09-5763-D201-661A-B5FA551B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Objectives / Goals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D45C-2E78-8C54-980B-F2725851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To implement and train both ANN and CNN models using PyTorch.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To compare model performance in terms of accuracy, training stability, and generalization.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To evaluate the impact of regularization and optimization techniques.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Expected Outcome: CNN will outperform ANN due to its ability to extract spatial features from images.</a:t>
            </a:r>
            <a:endParaRPr lang="en-US" sz="2000"/>
          </a:p>
        </p:txBody>
      </p:sp>
      <p:pic>
        <p:nvPicPr>
          <p:cNvPr id="14" name="Picture 13" descr="3D rendering of game pieces tied together with a rope">
            <a:extLst>
              <a:ext uri="{FF2B5EF4-FFF2-40B4-BE49-F238E27FC236}">
                <a16:creationId xmlns:a16="http://schemas.microsoft.com/office/drawing/2014/main" id="{A83C3FF3-4DE8-5D39-33C8-498EE7079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5" r="35462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760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AA47C-0652-72B1-9AA8-5AA6660B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Methodology / Approach</a:t>
            </a:r>
            <a:endParaRPr lang="en-US" sz="46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7279CE-CF9E-E37B-8BD3-A96F08F07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59251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727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645BF-BB09-7603-2B6C-92A4FA8A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Data / Materials / Inputs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379700-D9AD-01B4-62A1-C9713263A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35554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551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CF231-8708-728A-3CB4-80067915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Implementation / Process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59F4-495D-602D-C625-7EFCC854B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Data Preprocessing:</a:t>
            </a:r>
            <a:r>
              <a:rPr lang="en-US" sz="1700">
                <a:ea typeface="+mn-lt"/>
                <a:cs typeface="+mn-lt"/>
              </a:rPr>
              <a:t> Normalized and batched data.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Model Design:</a:t>
            </a:r>
            <a:r>
              <a:rPr lang="en-US" sz="1700">
                <a:ea typeface="+mn-lt"/>
                <a:cs typeface="+mn-lt"/>
              </a:rPr>
              <a:t> Defined ANN and CNN architectures with dropout layers.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Training:</a:t>
            </a:r>
            <a:r>
              <a:rPr lang="en-US" sz="1700">
                <a:ea typeface="+mn-lt"/>
                <a:cs typeface="+mn-lt"/>
              </a:rPr>
              <a:t> 10 epochs using Adam optimizer and ReLU activation.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Validation:</a:t>
            </a:r>
            <a:r>
              <a:rPr lang="en-US" sz="1700">
                <a:ea typeface="+mn-lt"/>
                <a:cs typeface="+mn-lt"/>
              </a:rPr>
              <a:t> Performance tracking after each epoch.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Testing:</a:t>
            </a:r>
            <a:r>
              <a:rPr lang="en-US" sz="1700">
                <a:ea typeface="+mn-lt"/>
                <a:cs typeface="+mn-lt"/>
              </a:rPr>
              <a:t> Evaluation on unseen test data.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Visualization:</a:t>
            </a:r>
            <a:r>
              <a:rPr lang="en-US" sz="1700">
                <a:ea typeface="+mn-lt"/>
                <a:cs typeface="+mn-lt"/>
              </a:rPr>
              <a:t> Accuracy/loss curves and confusion matrices plotted using Matplotlib.</a:t>
            </a: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B7276-0F6D-6FC6-45CE-548B2EA8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35" r="32052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4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1509D-3077-594E-D3E7-78A37658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Results / Findings</a:t>
            </a:r>
          </a:p>
        </p:txBody>
      </p:sp>
      <p:pic>
        <p:nvPicPr>
          <p:cNvPr id="5" name="Picture 4" descr="A graph of loss and loss&#10;&#10;AI-generated content may be incorrect.">
            <a:extLst>
              <a:ext uri="{FF2B5EF4-FFF2-40B4-BE49-F238E27FC236}">
                <a16:creationId xmlns:a16="http://schemas.microsoft.com/office/drawing/2014/main" id="{67963737-E14D-5FA5-C0B3-81D7C19A6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3253927"/>
            <a:ext cx="5828261" cy="2753852"/>
          </a:xfrm>
          <a:prstGeom prst="rect">
            <a:avLst/>
          </a:prstGeom>
        </p:spPr>
      </p:pic>
      <p:pic>
        <p:nvPicPr>
          <p:cNvPr id="4" name="Content Placeholder 3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6063586F-B679-614A-35C0-496142BFA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3253927"/>
            <a:ext cx="5828261" cy="275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0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5CDD2-8918-5C24-E5E0-3EFCF126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Discussion / Interpretation</a:t>
            </a:r>
            <a:endParaRPr lang="en-US" sz="54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96DB-30E2-A217-2682-EA0CAAB6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Performance Insight:</a:t>
            </a:r>
            <a:r>
              <a:rPr lang="en-US" sz="2200">
                <a:ea typeface="+mn-lt"/>
                <a:cs typeface="+mn-lt"/>
              </a:rPr>
              <a:t> CNN achieved higher accuracy due to its convolutional layers capturing spatial hierarchies.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Efficiency:</a:t>
            </a:r>
            <a:r>
              <a:rPr lang="en-US" sz="2200">
                <a:ea typeface="+mn-lt"/>
                <a:cs typeface="+mn-lt"/>
              </a:rPr>
              <a:t> ANN trained faster but had limited feature learning capacity.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Overfitting Control:</a:t>
            </a:r>
            <a:r>
              <a:rPr lang="en-US" sz="2200">
                <a:ea typeface="+mn-lt"/>
                <a:cs typeface="+mn-lt"/>
              </a:rPr>
              <a:t> Dropout regularization improved generalization.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Challenges:</a:t>
            </a:r>
            <a:r>
              <a:rPr lang="en-US" sz="2200">
                <a:ea typeface="+mn-lt"/>
                <a:cs typeface="+mn-lt"/>
              </a:rPr>
              <a:t> Longer CNN training times and tuning hyperparameters.</a:t>
            </a:r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7F8F5-CA8A-7AE7-C265-B587CC6BC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879" y="329183"/>
            <a:ext cx="3688138" cy="3429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569C52-64E2-0DC2-34FA-1E3E838F0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765" y="4079193"/>
            <a:ext cx="2340077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24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077D6-3F78-7A57-8648-98E94872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Conclusion / Summary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34B7-491A-654F-B5F5-9D33ECF5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Implemented and evaluated both ANN and CNN models on Fashion-MNIST.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CNN outperformed ANN in both validation and test performance.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Demonstrated the effectiveness of regularization and Adam optimizer.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Concluded that CNNs provide higher accuracy and generalization for visual classification.</a:t>
            </a:r>
            <a:endParaRPr lang="en-US" sz="2000"/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A395DF31-F284-2953-0887-C1D83E5B4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53" r="18934" b="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5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DD1B8-87EC-5295-39A4-7B21E96D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Future Work / Acknowledgments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C96A-73A6-CE5E-7DFF-CCB71BA1E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900" b="1">
                <a:ea typeface="+mn-lt"/>
                <a:cs typeface="+mn-lt"/>
              </a:rPr>
              <a:t>Future Improvements: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Apply </a:t>
            </a:r>
            <a:r>
              <a:rPr lang="en-US" sz="1900" b="1">
                <a:ea typeface="+mn-lt"/>
                <a:cs typeface="+mn-lt"/>
              </a:rPr>
              <a:t>Batch Normalization</a:t>
            </a:r>
            <a:r>
              <a:rPr lang="en-US" sz="1900">
                <a:ea typeface="+mn-lt"/>
                <a:cs typeface="+mn-lt"/>
              </a:rPr>
              <a:t> and </a:t>
            </a:r>
            <a:r>
              <a:rPr lang="en-US" sz="1900" b="1">
                <a:ea typeface="+mn-lt"/>
                <a:cs typeface="+mn-lt"/>
              </a:rPr>
              <a:t>Early Stopping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Experiment with </a:t>
            </a:r>
            <a:r>
              <a:rPr lang="en-US" sz="1900" b="1">
                <a:ea typeface="+mn-lt"/>
                <a:cs typeface="+mn-lt"/>
              </a:rPr>
              <a:t>learning rate scheduling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Explore </a:t>
            </a:r>
            <a:r>
              <a:rPr lang="en-US" sz="1900" b="1">
                <a:ea typeface="+mn-lt"/>
                <a:cs typeface="+mn-lt"/>
              </a:rPr>
              <a:t>Transfer Learning</a:t>
            </a:r>
            <a:r>
              <a:rPr lang="en-US" sz="1900">
                <a:ea typeface="+mn-lt"/>
                <a:cs typeface="+mn-lt"/>
              </a:rPr>
              <a:t> with pretrained CNNs</a:t>
            </a:r>
            <a:endParaRPr lang="en-US" sz="1900"/>
          </a:p>
          <a:p>
            <a:pPr indent="0">
              <a:buNone/>
            </a:pPr>
            <a:r>
              <a:rPr lang="en-US" sz="1900" b="1">
                <a:ea typeface="+mn-lt"/>
                <a:cs typeface="+mn-lt"/>
              </a:rPr>
              <a:t>Acknowledgments: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PyTorch Documentation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Fashion-MNIST Dataset by Zalando Research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Harvard Writing Center (for Executive Summary framework)</a:t>
            </a:r>
            <a:endParaRPr lang="en-US" sz="19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60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Comparative Analysis of ANN and CNN Models on Fashion-MNIST Dataset</vt:lpstr>
      <vt:lpstr>Introduction</vt:lpstr>
      <vt:lpstr>Objectives / Goals</vt:lpstr>
      <vt:lpstr>Methodology / Approach</vt:lpstr>
      <vt:lpstr>Data / Materials / Inputs</vt:lpstr>
      <vt:lpstr>Implementation / Process</vt:lpstr>
      <vt:lpstr>Results / Findings</vt:lpstr>
      <vt:lpstr>Discussion / Interpretation</vt:lpstr>
      <vt:lpstr>Conclusion / Summary</vt:lpstr>
      <vt:lpstr>Future Work / Acknowledgments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</cp:revision>
  <dcterms:created xsi:type="dcterms:W3CDTF">2025-11-05T12:18:24Z</dcterms:created>
  <dcterms:modified xsi:type="dcterms:W3CDTF">2025-11-05T13:53:50Z</dcterms:modified>
</cp:coreProperties>
</file>